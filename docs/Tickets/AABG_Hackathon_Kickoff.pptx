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291840" cy="3291840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926080" cy="2926080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4937760"/>
            <a:ext cx="2560320" cy="2560320"/>
          </a:xfrm>
          <a:prstGeom prst="ellipse">
            <a:avLst/>
          </a:prstGeom>
          <a:solidFill>
            <a:srgbClr val="0F2D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Enterprise AI Platform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2A6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Hackathon — Kickoff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36576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secure, VPN-only knowledge base with a cited AI assistant on AWS — everything as Terraform.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394960"/>
            <a:ext cx="923544" cy="457200"/>
          </a:xfrm>
          <a:prstGeom prst="roundRect">
            <a:avLst>
              <a:gd name="adj" fmla="val 50000"/>
            </a:avLst>
          </a:prstGeom>
          <a:solidFill>
            <a:srgbClr val="0F2D52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39496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700784" y="5394960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0F2D52"/>
          </a:solidFill>
          <a:ln w="12700">
            <a:solidFill>
              <a:srgbClr val="02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0784" y="5394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Teams · M0 + M1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59352" y="5394960"/>
            <a:ext cx="3035808" cy="457200"/>
          </a:xfrm>
          <a:prstGeom prst="roundRect">
            <a:avLst>
              <a:gd name="adj" fmla="val 50000"/>
            </a:avLst>
          </a:prstGeom>
          <a:solidFill>
            <a:srgbClr val="0F2D52"/>
          </a:solidFill>
          <a:ln w="12700">
            <a:solidFill>
              <a:srgbClr val="A1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539496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Infrastructure as Code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0" y="6263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Accenture  ·  AWS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we’re building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AI knowledge platform — behind corporate VPN, no public endpoints.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08022" cy="3200400"/>
          </a:xfrm>
          <a:prstGeom prst="roundRect">
            <a:avLst>
              <a:gd name="adj" fmla="val 4098"/>
            </a:avLst>
          </a:prstGeom>
          <a:solidFill>
            <a:srgbClr val="F4F7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0043" y="2212848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1260043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8251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Upload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4944" y="3474720"/>
            <a:ext cx="171541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URL → private S3. Encrypted, no public access.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2694" y="1965960"/>
            <a:ext cx="2008022" cy="3200400"/>
          </a:xfrm>
          <a:prstGeom prst="roundRect">
            <a:avLst>
              <a:gd name="adj" fmla="val 4098"/>
            </a:avLst>
          </a:prstGeom>
          <a:solidFill>
            <a:srgbClr val="F4F7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4098" y="2212848"/>
            <a:ext cx="585216" cy="585216"/>
          </a:xfrm>
          <a:prstGeom prst="ellipse">
            <a:avLst/>
          </a:prstGeom>
          <a:solidFill>
            <a:srgbClr val="02A6A6"/>
          </a:solidFill>
          <a:ln/>
        </p:spPr>
      </p:sp>
      <p:sp>
        <p:nvSpPr>
          <p:cNvPr id="11" name="Text 9"/>
          <p:cNvSpPr/>
          <p:nvPr/>
        </p:nvSpPr>
        <p:spPr>
          <a:xfrm>
            <a:off x="3524098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04134" y="2971800"/>
            <a:ext cx="18251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958998" y="3474720"/>
            <a:ext cx="171541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.metadata.json sidecar (Industry, Type, Project…).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6749" y="1965960"/>
            <a:ext cx="2008022" cy="3200400"/>
          </a:xfrm>
          <a:prstGeom prst="roundRect">
            <a:avLst>
              <a:gd name="adj" fmla="val 4098"/>
            </a:avLst>
          </a:prstGeom>
          <a:solidFill>
            <a:srgbClr val="F4F7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88152" y="2212848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788152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68189" y="2971800"/>
            <a:ext cx="18251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Vectorize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223053" y="3474720"/>
            <a:ext cx="171541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KB + Titan V2 embeddings into S3 Vector Store.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40803" y="1965960"/>
            <a:ext cx="2008022" cy="3200400"/>
          </a:xfrm>
          <a:prstGeom prst="roundRect">
            <a:avLst>
              <a:gd name="adj" fmla="val 4098"/>
            </a:avLst>
          </a:prstGeom>
          <a:solidFill>
            <a:srgbClr val="F4F7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2206" y="2212848"/>
            <a:ext cx="585216" cy="585216"/>
          </a:xfrm>
          <a:prstGeom prst="ellipse">
            <a:avLst/>
          </a:prstGeom>
          <a:solidFill>
            <a:srgbClr val="A100FF"/>
          </a:solidFill>
          <a:ln/>
        </p:spPr>
      </p:sp>
      <p:sp>
        <p:nvSpPr>
          <p:cNvPr id="21" name="Text 19"/>
          <p:cNvSpPr/>
          <p:nvPr/>
        </p:nvSpPr>
        <p:spPr>
          <a:xfrm>
            <a:off x="8052206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2243" y="2971800"/>
            <a:ext cx="18251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Retrieve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87107" y="3474720"/>
            <a:ext cx="171541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Metadata-filtered semantic search. No cross-client leakage.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4858" y="1965960"/>
            <a:ext cx="2008022" cy="3200400"/>
          </a:xfrm>
          <a:prstGeom prst="roundRect">
            <a:avLst>
              <a:gd name="adj" fmla="val 4098"/>
            </a:avLst>
          </a:prstGeom>
          <a:solidFill>
            <a:srgbClr val="F4F7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16261" y="2212848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316261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96298" y="2971800"/>
            <a:ext cx="18251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751162" y="3474720"/>
            <a:ext cx="171541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(Bedrock) responds, grounded, with clickable citations.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56662" y="3429000"/>
            <a:ext cx="256032" cy="365760"/>
          </a:xfrm>
          <a:prstGeom prst="chevron">
            <a:avLst/>
          </a:prstGeom>
          <a:solidFill>
            <a:srgbClr val="C4D3E3"/>
          </a:solidFill>
          <a:ln/>
        </p:spPr>
      </p:sp>
      <p:sp>
        <p:nvSpPr>
          <p:cNvPr id="30" name="Shape 28"/>
          <p:cNvSpPr/>
          <p:nvPr/>
        </p:nvSpPr>
        <p:spPr>
          <a:xfrm>
            <a:off x="4820717" y="3429000"/>
            <a:ext cx="256032" cy="365760"/>
          </a:xfrm>
          <a:prstGeom prst="chevron">
            <a:avLst/>
          </a:prstGeom>
          <a:solidFill>
            <a:srgbClr val="C4D3E3"/>
          </a:solidFill>
          <a:ln/>
        </p:spPr>
      </p:sp>
      <p:sp>
        <p:nvSpPr>
          <p:cNvPr id="31" name="Shape 29"/>
          <p:cNvSpPr/>
          <p:nvPr/>
        </p:nvSpPr>
        <p:spPr>
          <a:xfrm>
            <a:off x="7084771" y="3429000"/>
            <a:ext cx="256032" cy="365760"/>
          </a:xfrm>
          <a:prstGeom prst="chevron">
            <a:avLst/>
          </a:prstGeom>
          <a:solidFill>
            <a:srgbClr val="C4D3E3"/>
          </a:solidFill>
          <a:ln/>
        </p:spPr>
      </p:sp>
      <p:sp>
        <p:nvSpPr>
          <p:cNvPr id="32" name="Shape 30"/>
          <p:cNvSpPr/>
          <p:nvPr/>
        </p:nvSpPr>
        <p:spPr>
          <a:xfrm>
            <a:off x="9348826" y="3429000"/>
            <a:ext cx="256032" cy="365760"/>
          </a:xfrm>
          <a:prstGeom prst="chevron">
            <a:avLst/>
          </a:prstGeom>
          <a:solidFill>
            <a:srgbClr val="C4D3E3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Non-functional: all traffic VPN-only · PrivateLink for every AWS call · data treated as restricted · least-privilege IAM · 100% Terraform (no ClickOps).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milestones, two teams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splits cleanly in half. Each team owns one milestone end-to-end.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0F2D52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1051560" cy="502920"/>
          </a:xfrm>
          <a:prstGeom prst="roundRect">
            <a:avLst>
              <a:gd name="adj" fmla="val 49091"/>
            </a:avLst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03120" y="20848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Foundation &amp; Ingestion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indexed vectors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landing + processed buckets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presigned URL + metadata sidecar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 + Titan embeddings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DynamoDB, EventBridge + SES digest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Gateway, CloudWatch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can be uploaded, tagged, vectorized, and retrieved with metadata filters.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0F2D52"/>
          </a:solidFill>
          <a:ln w="19050">
            <a:solidFill>
              <a:srgbClr val="02A6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148840"/>
            <a:ext cx="1051560" cy="502920"/>
          </a:xfrm>
          <a:prstGeom prst="roundRect">
            <a:avLst>
              <a:gd name="adj" fmla="val 49091"/>
            </a:avLst>
          </a:prstGeom>
          <a:solidFill>
            <a:srgbClr val="02A6A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148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18120" y="20848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Access &amp; Knowledge App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11112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cited answer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11112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9400" y="35204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Entra ID SSO federation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chat app (Open WebUI)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image + ALB target-group attach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w/ tool-use retrieval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+ clickable citations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11112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52578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logs in via SSO, asks a question, and gets a cited answer from the KB.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one contract between teams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this Day 1 morning, before writing ingestion or retrieval code. It’s the single integration boundary.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4F7FB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docs/metadata-schema.json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fields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Banking, Automotive, Healthcare, …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PoC, RFP, Case Study, Proposal, …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fields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· Client · Topic · UploadedBy · UploadedAt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match enums exactly (case-sensitive). No fit → use "Other". Extend only if both teams agree.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3E0"/>
          </a:solidFill>
          <a:ln w="1524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6B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Team M0 — Producer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4231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4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vectors with these metadata keys. Exposes via terraform_remote_state: bedrock_kb_id, s3_vector_store_arn, landing_bucket_name.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78240" y="3877056"/>
            <a:ext cx="365760" cy="402336"/>
          </a:xfrm>
          <a:prstGeom prst="downArrow">
            <a:avLst/>
          </a:prstGeom>
          <a:solidFill>
            <a:srgbClr val="8DA9C4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434340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E0F7F5"/>
          </a:solidFill>
          <a:ln w="15240">
            <a:solidFill>
              <a:srgbClr val="02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Team M1 — Consumer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49377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bedrock_kb_id into the Agent tool-use config. Queries using ONLY these metadata keys as filters.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to organize your week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GitHub board. Each issue carries acceptance criteria. Merge via PR — plan on PR, apply on merge.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0F2D52"/>
          </a:solidFill>
          <a:ln w="1524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5528" y="28803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+ Terraform workshop. Agree metadata schema. Build buckets, DynamoDB (M0) / Cognito, ECS+ECR skeleton (M1).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0F2D52"/>
          </a:solidFill>
          <a:ln w="15240">
            <a:solidFill>
              <a:srgbClr val="02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965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Ingestion &amp; App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30168" y="28803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URL + sidecar + API GW + Bedrock KB (M0). Dockerize → ECR → Fargate behind ALB (M1).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0F2D52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965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Intelligence &amp; Agent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4808" y="28803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ingestion + metadata filters + digest (M0). Bedrock Agent + tool-use + auth flow (M1).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7830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0F2D52"/>
          </a:solidFill>
          <a:ln w="15240">
            <a:solidFill>
              <a:srgbClr val="A10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965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81160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Integrate &amp; Demo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99448" y="28803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chat → cited answer end-to-end. Bug-fix, docs, 5-min demos, retro.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1294A"/>
          </a:solidFill>
          <a:ln w="12700">
            <a:solidFill>
              <a:srgbClr val="1E3E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138928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5120640"/>
            <a:ext cx="249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596128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 + Projects: To Do → In Progress → Done. One issue = one acceptance criterion met.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8160" y="493776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1294A"/>
          </a:solidFill>
          <a:ln w="12700">
            <a:solidFill>
              <a:srgbClr val="1E3E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4192" y="5138928"/>
            <a:ext cx="402336" cy="402336"/>
          </a:xfrm>
          <a:prstGeom prst="ellipse">
            <a:avLst/>
          </a:prstGeom>
          <a:solidFill>
            <a:srgbClr val="02A6A6"/>
          </a:solidFill>
          <a:ln/>
        </p:spPr>
      </p:sp>
      <p:sp>
        <p:nvSpPr>
          <p:cNvPr id="26" name="Text 24"/>
          <p:cNvSpPr/>
          <p:nvPr/>
        </p:nvSpPr>
        <p:spPr>
          <a:xfrm>
            <a:off x="5151120" y="5120640"/>
            <a:ext cx="249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Branches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02480" y="5596128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 → PR → review → merge to main. terraform plan on PR, apply on merge.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07680" y="493776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1294A"/>
          </a:solidFill>
          <a:ln w="12700">
            <a:solidFill>
              <a:srgbClr val="1E3E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3712" y="5138928"/>
            <a:ext cx="402336" cy="402336"/>
          </a:xfrm>
          <a:prstGeom prst="ellipse">
            <a:avLst/>
          </a:prstGeom>
          <a:solidFill>
            <a:srgbClr val="A100FF"/>
          </a:solidFill>
          <a:ln/>
        </p:spPr>
      </p:sp>
      <p:sp>
        <p:nvSpPr>
          <p:cNvPr id="30" name="Text 28"/>
          <p:cNvSpPr/>
          <p:nvPr/>
        </p:nvSpPr>
        <p:spPr>
          <a:xfrm>
            <a:off x="8930640" y="5120640"/>
            <a:ext cx="249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Standup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82000" y="5596128"/>
            <a:ext cx="295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each morning: done / today / blockers / "does the schema contract still hold?"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Architecture at a glance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Claw — how the layers connect. VPN-only, PrivateLink between every service.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783080"/>
          </a:xfrm>
          <a:prstGeom prst="roundRect">
            <a:avLst>
              <a:gd name="adj" fmla="val 3590"/>
            </a:avLst>
          </a:prstGeom>
          <a:solidFill>
            <a:srgbClr val="0F2D52"/>
          </a:solidFill>
          <a:ln w="1651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7099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Entry Points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0574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600200"/>
            <a:ext cx="2651760" cy="1783080"/>
          </a:xfrm>
          <a:prstGeom prst="roundRect">
            <a:avLst>
              <a:gd name="adj" fmla="val 3590"/>
            </a:avLst>
          </a:prstGeom>
          <a:solidFill>
            <a:srgbClr val="0F2D52"/>
          </a:solidFill>
          <a:ln w="16510">
            <a:solidFill>
              <a:srgbClr val="A10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7288" y="1801368"/>
            <a:ext cx="182880" cy="182880"/>
          </a:xfrm>
          <a:prstGeom prst="ellipse">
            <a:avLst/>
          </a:prstGeom>
          <a:solidFill>
            <a:srgbClr val="A100FF"/>
          </a:solidFill>
          <a:ln/>
        </p:spPr>
      </p:sp>
      <p:sp>
        <p:nvSpPr>
          <p:cNvPr id="10" name="Text 8"/>
          <p:cNvSpPr/>
          <p:nvPr/>
        </p:nvSpPr>
        <p:spPr>
          <a:xfrm>
            <a:off x="3721608" y="17099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Orchestration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20440" y="2148840"/>
            <a:ext cx="21945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(schedules)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(workflow)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00200"/>
            <a:ext cx="2788920" cy="1783080"/>
          </a:xfrm>
          <a:prstGeom prst="roundRect">
            <a:avLst>
              <a:gd name="adj" fmla="val 3590"/>
            </a:avLst>
          </a:prstGeom>
          <a:solidFill>
            <a:srgbClr val="0F2D52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1928" y="1801368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48" y="17099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Storage &amp; Data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55080" y="2148840"/>
            <a:ext cx="23317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(documents)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(metadata, memory)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Vector Store (embeddings)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0F2D52"/>
          </a:solidFill>
          <a:ln w="16510">
            <a:solidFill>
              <a:srgbClr val="02A6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53728" y="1801368"/>
            <a:ext cx="182880" cy="182880"/>
          </a:xfrm>
          <a:prstGeom prst="ellipse">
            <a:avLst/>
          </a:prstGeom>
          <a:solidFill>
            <a:srgbClr val="02A6A6"/>
          </a:solidFill>
          <a:ln/>
        </p:spPr>
      </p:sp>
      <p:sp>
        <p:nvSpPr>
          <p:cNvPr id="18" name="Text 16"/>
          <p:cNvSpPr/>
          <p:nvPr/>
        </p:nvSpPr>
        <p:spPr>
          <a:xfrm>
            <a:off x="9528048" y="17099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Messaging &amp; External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26880" y="2148840"/>
            <a:ext cx="21031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(outbound email)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Graph API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navigation / AI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2514600" cy="2514600"/>
          </a:xfrm>
          <a:prstGeom prst="roundRect">
            <a:avLst>
              <a:gd name="adj" fmla="val 2545"/>
            </a:avLst>
          </a:prstGeom>
          <a:solidFill>
            <a:srgbClr val="0F2D52"/>
          </a:solidFill>
          <a:ln w="16510">
            <a:solidFill>
              <a:srgbClr val="02A6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813048"/>
            <a:ext cx="182880" cy="182880"/>
          </a:xfrm>
          <a:prstGeom prst="ellipse">
            <a:avLst/>
          </a:prstGeom>
          <a:solidFill>
            <a:srgbClr val="02A6A6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37216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Access &amp; Auth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160520"/>
            <a:ext cx="20574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(SSO)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ALB (private)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3611880"/>
            <a:ext cx="2651760" cy="2514600"/>
          </a:xfrm>
          <a:prstGeom prst="roundRect">
            <a:avLst>
              <a:gd name="adj" fmla="val 2545"/>
            </a:avLst>
          </a:prstGeom>
          <a:solidFill>
            <a:srgbClr val="0F2D52"/>
          </a:solidFill>
          <a:ln w="16510">
            <a:solidFill>
              <a:srgbClr val="FF99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7288" y="3813048"/>
            <a:ext cx="182880" cy="1828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3721608" y="37216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520440" y="4160520"/>
            <a:ext cx="21945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(API + ingest logic)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ECS on Fargate (chat app)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3611880"/>
            <a:ext cx="5532120" cy="2514600"/>
          </a:xfrm>
          <a:prstGeom prst="roundRect">
            <a:avLst>
              <a:gd name="adj" fmla="val 2545"/>
            </a:avLst>
          </a:prstGeom>
          <a:solidFill>
            <a:srgbClr val="0F2D52"/>
          </a:solidFill>
          <a:ln w="16510">
            <a:solidFill>
              <a:srgbClr val="A100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81928" y="3813048"/>
            <a:ext cx="182880" cy="182880"/>
          </a:xfrm>
          <a:prstGeom prst="ellipse">
            <a:avLst/>
          </a:prstGeom>
          <a:solidFill>
            <a:srgbClr val="A100FF"/>
          </a:solidFill>
          <a:ln/>
        </p:spPr>
      </p:sp>
      <p:sp>
        <p:nvSpPr>
          <p:cNvPr id="30" name="Text 28"/>
          <p:cNvSpPr/>
          <p:nvPr/>
        </p:nvSpPr>
        <p:spPr>
          <a:xfrm>
            <a:off x="6556248" y="37216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/ ML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355080" y="4160520"/>
            <a:ext cx="50749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(tool-use routing)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Bases (retrieval)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Foundation Models — Claude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V2 (embeddings)  ·  Textract (OCR)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0" y="3401568"/>
            <a:ext cx="274320" cy="182880"/>
          </a:xfrm>
          <a:prstGeom prst="downArrow">
            <a:avLst/>
          </a:prstGeom>
          <a:solidFill>
            <a:srgbClr val="8DA9C4"/>
          </a:solidFill>
          <a:ln/>
        </p:spPr>
      </p:sp>
      <p:sp>
        <p:nvSpPr>
          <p:cNvPr id="33" name="Shape 31"/>
          <p:cNvSpPr/>
          <p:nvPr/>
        </p:nvSpPr>
        <p:spPr>
          <a:xfrm>
            <a:off x="3072384" y="4480560"/>
            <a:ext cx="146304" cy="292608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34" name="Shape 32"/>
          <p:cNvSpPr/>
          <p:nvPr/>
        </p:nvSpPr>
        <p:spPr>
          <a:xfrm>
            <a:off x="5916168" y="4480560"/>
            <a:ext cx="146304" cy="292608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user enters via Teams/UI → SSO through Cognito + private ALB → Lambda/Fargate → Bedrock Agent retrieves from the Knowledge Base → grounded, cited answer.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AABG Hackathon</dc:creator>
  <cp:lastModifiedBy>AABG Hackathon</cp:lastModifiedBy>
  <cp:revision>1</cp:revision>
  <dcterms:created xsi:type="dcterms:W3CDTF">2026-07-26T23:34:20Z</dcterms:created>
  <dcterms:modified xsi:type="dcterms:W3CDTF">2026-07-26T23:34:20Z</dcterms:modified>
</cp:coreProperties>
</file>